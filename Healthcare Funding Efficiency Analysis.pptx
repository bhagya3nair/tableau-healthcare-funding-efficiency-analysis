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2026-05-10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fi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2CF8-9D05-3D4E-E0F1-08220D311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8080" y="975974"/>
            <a:ext cx="9712960" cy="8585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Efficiency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ABDE7-7240-3B51-395A-AFA266863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9520" y="4690766"/>
            <a:ext cx="4236720" cy="74168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Bhagyalaxmi Nair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60A17-75FA-3B7D-C389-D134BCF1EE38}"/>
              </a:ext>
            </a:extLst>
          </p:cNvPr>
          <p:cNvSpPr txBox="1"/>
          <p:nvPr/>
        </p:nvSpPr>
        <p:spPr>
          <a:xfrm>
            <a:off x="1425892" y="2146914"/>
            <a:ext cx="1036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how funding aligns with mortality across disease areas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F9B15-6D5F-96A1-6B6B-1AA1E7D68AD5}"/>
              </a:ext>
            </a:extLst>
          </p:cNvPr>
          <p:cNvSpPr txBox="1"/>
          <p:nvPr/>
        </p:nvSpPr>
        <p:spPr>
          <a:xfrm>
            <a:off x="0" y="5546"/>
            <a:ext cx="114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A30AA-1E25-6244-9373-690E7EFAFF51}"/>
              </a:ext>
            </a:extLst>
          </p:cNvPr>
          <p:cNvSpPr txBox="1"/>
          <p:nvPr/>
        </p:nvSpPr>
        <p:spPr>
          <a:xfrm>
            <a:off x="9810432" y="5118092"/>
            <a:ext cx="1978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📊</a:t>
            </a:r>
          </a:p>
        </p:txBody>
      </p:sp>
    </p:spTree>
    <p:extLst>
      <p:ext uri="{BB962C8B-B14F-4D97-AF65-F5344CB8AC3E}">
        <p14:creationId xmlns:p14="http://schemas.microsoft.com/office/powerpoint/2010/main" val="24818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3D9E-4223-22E5-4F7D-6DC29CF8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66" y="370840"/>
            <a:ext cx="4693920" cy="66548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CE322F3-5BD0-6EBB-A036-32D861CBE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63" y="1036320"/>
            <a:ext cx="5943600" cy="430022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9239F-F0C1-95DB-8C33-DC55C860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7520" y="1734820"/>
            <a:ext cx="4937760" cy="4300220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is not always aligned with disease impact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healthcare resources require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high-mortality diseases may be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underfunded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low-impact areas may receive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disproportionate funding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data-driven insights leads to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inefficiencies in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to evaluate how effectively funding aligns with mortality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4F16FF-2B66-47C5-95E5-44F2A10741B2}"/>
              </a:ext>
            </a:extLst>
          </p:cNvPr>
          <p:cNvSpPr txBox="1"/>
          <p:nvPr/>
        </p:nvSpPr>
        <p:spPr>
          <a:xfrm>
            <a:off x="3916680" y="161240"/>
            <a:ext cx="685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9392A-289A-59E7-41DF-E14B4EAEAB88}"/>
              </a:ext>
            </a:extLst>
          </p:cNvPr>
          <p:cNvSpPr txBox="1"/>
          <p:nvPr/>
        </p:nvSpPr>
        <p:spPr>
          <a:xfrm>
            <a:off x="3987800" y="5410101"/>
            <a:ext cx="614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📑</a:t>
            </a:r>
          </a:p>
        </p:txBody>
      </p:sp>
    </p:spTree>
    <p:extLst>
      <p:ext uri="{BB962C8B-B14F-4D97-AF65-F5344CB8AC3E}">
        <p14:creationId xmlns:p14="http://schemas.microsoft.com/office/powerpoint/2010/main" val="179613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D952-41D8-07B6-E457-9887021A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91" y="391160"/>
            <a:ext cx="2688909" cy="70612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65560-ED79-633D-6117-5FA4129BB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9891" y="1691640"/>
            <a:ext cx="8534400" cy="4445000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is designed to: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</a:t>
            </a: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healthcare funding and disease mortality</a:t>
            </a:r>
            <a:b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(Are high-impact diseases receiving adequate funding?)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key performance indicator (</a:t>
            </a: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per Death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measure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allocation gaps</a:t>
            </a:r>
            <a:b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Detect overfunded vs underfunded diseases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</a:t>
            </a:r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decision making</a:t>
            </a:r>
            <a:b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Provide insights to optimize resource allocation</a:t>
            </a:r>
          </a:p>
          <a:p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“Is healthcare funding proportionate to disease impact?”</a:t>
            </a:r>
          </a:p>
          <a:p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A4E09-69BC-74A4-0BC2-40C56DA156CD}"/>
              </a:ext>
            </a:extLst>
          </p:cNvPr>
          <p:cNvSpPr txBox="1"/>
          <p:nvPr/>
        </p:nvSpPr>
        <p:spPr>
          <a:xfrm>
            <a:off x="2987040" y="45861"/>
            <a:ext cx="14833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/>
              <a:t>🎯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42297-3AD8-5F92-8A0E-17FC437A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39" y="4921408"/>
            <a:ext cx="1414461" cy="141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5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39FC-B8D2-5143-A921-B34BD610D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52" y="487680"/>
            <a:ext cx="3657600" cy="5892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99E554-2988-0415-E070-F7DF287DE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539239"/>
            <a:ext cx="5567680" cy="324104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BF89C-4287-4A42-2E77-97CE10921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52" y="1539239"/>
            <a:ext cx="4863148" cy="4831081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used in this analysis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Disease / Research Area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Represents different healthcare focus areas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Funding Amount ($)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Total funding allocated per disease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Mortality (2019)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Number of deaths associated with each disease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Year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Enables trend analysis over time</a:t>
            </a:r>
          </a:p>
          <a:p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Covers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disease categories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Includes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data for trend analysis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comparison of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vs impact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337A9-7205-59CE-FC73-51C231C776E6}"/>
              </a:ext>
            </a:extLst>
          </p:cNvPr>
          <p:cNvSpPr txBox="1"/>
          <p:nvPr/>
        </p:nvSpPr>
        <p:spPr>
          <a:xfrm>
            <a:off x="3804920" y="107770"/>
            <a:ext cx="1285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📂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5E1978-553D-D263-2BD0-316C26F9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698" y="4303078"/>
            <a:ext cx="1015683" cy="10156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6F1900-97F5-F783-0536-BD9F79FC8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440" y="231139"/>
            <a:ext cx="1076960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94E9-BF19-8A12-7E40-9925B967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86" y="279400"/>
            <a:ext cx="4656774" cy="87884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 &amp; Performance Indicator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3AC0EE-D84F-1A59-B60E-9B3EE416B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6389" y="1280160"/>
            <a:ext cx="4800847" cy="352552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664B0-E49C-B97F-C631-D443DA9E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386" y="1681479"/>
            <a:ext cx="4992054" cy="4658361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 Developed: Funding Efficiency</a:t>
            </a:r>
          </a:p>
          <a:p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Defined as:</a:t>
            </a:r>
            <a:b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👉 Funding per Death</a:t>
            </a:r>
          </a:p>
          <a:p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Formula:</a:t>
            </a:r>
            <a:b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👉 Total Funding / Total Mortality</a:t>
            </a:r>
          </a:p>
          <a:p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Purpose:</a:t>
            </a:r>
            <a:b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Measures how efficiently funding is allocated relative to disease impact</a:t>
            </a:r>
          </a:p>
          <a:p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Why it matters:</a:t>
            </a:r>
            <a:b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Helps identify imbalance in resource allocation</a:t>
            </a:r>
            <a:b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Highlights diseases receiving disproportionate funding</a:t>
            </a:r>
          </a:p>
          <a:p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👉 “Higher value indicates more funding per death, suggesting potential over-allocation.”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C9F7BB-D919-00B1-FFED-E91AADA7A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54" y="173698"/>
            <a:ext cx="1090172" cy="1090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41C96A-01A8-F016-4B88-6E125FDA9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265" y="2569875"/>
            <a:ext cx="946089" cy="9460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D7545F-5098-9D98-7837-607EE2E09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147" y="5486717"/>
            <a:ext cx="946089" cy="9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4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2159-F1BC-CABF-1074-98ECF28B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92" y="279400"/>
            <a:ext cx="4456748" cy="89916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Mortality Trends Across Disease Areas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96DD52-7BEA-EDBA-47E2-C06EA4C45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0538" y="1563578"/>
            <a:ext cx="6316662" cy="456184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224EF-840E-E73E-55C0-BA80CAB53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9892" y="1713654"/>
            <a:ext cx="4903788" cy="4656666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Observations: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Cardiovascular diseases consistently show the highest mortality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Cancer remains the second leading cause of death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Other diseases show relatively lower but steady trends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Mortality trends remain largely stable after 2011</a:t>
            </a:r>
          </a:p>
          <a:p>
            <a:endParaRPr lang="en-US" dirty="0"/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“Cardiovascular and cancer dominate mortality, indicating high-impact disease areas requiring focused funding.”</a:t>
            </a:r>
            <a:r>
              <a:rPr lang="en-US" sz="2000" dirty="0"/>
              <a:t> 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0F5F2-0A0F-897A-21E0-BB175CF049EA}"/>
              </a:ext>
            </a:extLst>
          </p:cNvPr>
          <p:cNvSpPr txBox="1"/>
          <p:nvPr/>
        </p:nvSpPr>
        <p:spPr>
          <a:xfrm>
            <a:off x="4353560" y="230201"/>
            <a:ext cx="1366520" cy="1215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6A9EF-952E-9571-56FE-F5A559B6BCFE}"/>
              </a:ext>
            </a:extLst>
          </p:cNvPr>
          <p:cNvSpPr txBox="1"/>
          <p:nvPr/>
        </p:nvSpPr>
        <p:spPr>
          <a:xfrm>
            <a:off x="2120106" y="5042746"/>
            <a:ext cx="1212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E3936-C421-2334-AA63-7AEB6FDDCD50}"/>
              </a:ext>
            </a:extLst>
          </p:cNvPr>
          <p:cNvSpPr txBox="1"/>
          <p:nvPr/>
        </p:nvSpPr>
        <p:spPr>
          <a:xfrm>
            <a:off x="10551160" y="197691"/>
            <a:ext cx="1010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⚠</a:t>
            </a:r>
          </a:p>
        </p:txBody>
      </p:sp>
    </p:spTree>
    <p:extLst>
      <p:ext uri="{BB962C8B-B14F-4D97-AF65-F5344CB8AC3E}">
        <p14:creationId xmlns:p14="http://schemas.microsoft.com/office/powerpoint/2010/main" val="191945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E625-E2C4-B77E-7856-1F85456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52" y="259080"/>
            <a:ext cx="4080828" cy="7569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Distribution Across Disease Areas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0162-7C58-CB07-E863-4CADA6B8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052" y="1539239"/>
            <a:ext cx="4700588" cy="4861561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Observations: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Cancer receives the highest funding among all disease areas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Cardiovascular diseases receive substantial but comparatively lower funding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diseases with lower mortality still receive notable funding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Funding distribution does not perfectly align with mortality impact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“Funding allocation shows partial misalignment with disease impact, indicating potential inefficiencies.”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7632D7B-2B59-5EAA-E5C3-4F7AF2FEC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174" y="1016000"/>
            <a:ext cx="6180773" cy="455168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B04C3F-D831-555C-7BEF-604F43E7D436}"/>
              </a:ext>
            </a:extLst>
          </p:cNvPr>
          <p:cNvSpPr txBox="1"/>
          <p:nvPr/>
        </p:nvSpPr>
        <p:spPr>
          <a:xfrm>
            <a:off x="4326254" y="185003"/>
            <a:ext cx="1264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📊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6A8B1-1B0C-FED7-8AB8-6A8ED6225967}"/>
              </a:ext>
            </a:extLst>
          </p:cNvPr>
          <p:cNvSpPr txBox="1"/>
          <p:nvPr/>
        </p:nvSpPr>
        <p:spPr>
          <a:xfrm>
            <a:off x="1955800" y="5213737"/>
            <a:ext cx="797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💵</a:t>
            </a:r>
          </a:p>
        </p:txBody>
      </p:sp>
    </p:spTree>
    <p:extLst>
      <p:ext uri="{BB962C8B-B14F-4D97-AF65-F5344CB8AC3E}">
        <p14:creationId xmlns:p14="http://schemas.microsoft.com/office/powerpoint/2010/main" val="304800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5D2D-7E65-17F2-9530-A27449D6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2" y="218440"/>
            <a:ext cx="4832668" cy="899160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Underfunded High-Risk Diseases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DA5E36-B8B0-161C-D9FC-FA4B60AD0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4960" y="843280"/>
            <a:ext cx="6468428" cy="464312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1D1CD-D813-C283-F600-183928AEF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2" y="1706881"/>
            <a:ext cx="5066348" cy="4439919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diseases show high mortality but comparatively lower funding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Cancer receives both high funding and high research attention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Cardiovascular diseases exhibit extremely high mortality levels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Certain disease areas may be underfunded relative to their impact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analysis reveals that funding allocation is not always proportional to disease burden.”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F24E4-D553-036B-BF96-D208651E636E}"/>
              </a:ext>
            </a:extLst>
          </p:cNvPr>
          <p:cNvSpPr txBox="1"/>
          <p:nvPr/>
        </p:nvSpPr>
        <p:spPr>
          <a:xfrm>
            <a:off x="3845560" y="628749"/>
            <a:ext cx="48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FB209-81CB-8389-D01A-9E3B2EBA2E99}"/>
              </a:ext>
            </a:extLst>
          </p:cNvPr>
          <p:cNvSpPr txBox="1"/>
          <p:nvPr/>
        </p:nvSpPr>
        <p:spPr>
          <a:xfrm>
            <a:off x="4086860" y="5151119"/>
            <a:ext cx="929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📉</a:t>
            </a:r>
          </a:p>
        </p:txBody>
      </p:sp>
    </p:spTree>
    <p:extLst>
      <p:ext uri="{BB962C8B-B14F-4D97-AF65-F5344CB8AC3E}">
        <p14:creationId xmlns:p14="http://schemas.microsoft.com/office/powerpoint/2010/main" val="262775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72E3-16CA-D6E6-05BA-E7225611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466" y="147320"/>
            <a:ext cx="4341812" cy="74676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KPI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C693E9-C508-A01E-765C-2B9EE2DD6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940" y="1065953"/>
            <a:ext cx="3850860" cy="295232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DE285-582B-9F67-138A-368F1F154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00319" y="1065953"/>
            <a:ext cx="6702107" cy="5355167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measures the amount of healthcare funding allocated relative to disease mortality.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KPI is calculated using: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per Death = Total Funding / Total Mortality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metric helps evaluate whether healthcare investments are proportionate to disease impact.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shows an average funding efficiency of approximately $23,102 per death.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values indicate diseases receiving relatively higher funding compared to mortality impact, while lower values may indicate underfunded high-risk diseases.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74AFEA-BB9A-7687-6D2D-B8F95BF98F71}"/>
              </a:ext>
            </a:extLst>
          </p:cNvPr>
          <p:cNvSpPr/>
          <p:nvPr/>
        </p:nvSpPr>
        <p:spPr>
          <a:xfrm>
            <a:off x="218440" y="5105399"/>
            <a:ext cx="4612640" cy="843281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Funding per Death = Funding Amount ($) ÷ Mortality (2019)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AEE3-3A5F-64B0-BC9F-1397C656755E}"/>
              </a:ext>
            </a:extLst>
          </p:cNvPr>
          <p:cNvSpPr txBox="1"/>
          <p:nvPr/>
        </p:nvSpPr>
        <p:spPr>
          <a:xfrm>
            <a:off x="10073640" y="-81812"/>
            <a:ext cx="655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05BE6-97C0-88E0-C5BE-9DF9057BF23A}"/>
              </a:ext>
            </a:extLst>
          </p:cNvPr>
          <p:cNvSpPr txBox="1"/>
          <p:nvPr/>
        </p:nvSpPr>
        <p:spPr>
          <a:xfrm>
            <a:off x="6202680" y="3845560"/>
            <a:ext cx="756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🎯</a:t>
            </a:r>
          </a:p>
        </p:txBody>
      </p:sp>
    </p:spTree>
    <p:extLst>
      <p:ext uri="{BB962C8B-B14F-4D97-AF65-F5344CB8AC3E}">
        <p14:creationId xmlns:p14="http://schemas.microsoft.com/office/powerpoint/2010/main" val="358944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7FE7-ABA8-0CAE-EA8F-E67AC1D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32" y="238760"/>
            <a:ext cx="4294188" cy="736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Disease Areas by Funding Efficiency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23BB3-B90A-E791-E2A6-40C9B4ACA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38760"/>
            <a:ext cx="5857211" cy="425195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12BC6-EC61-51A3-65FA-3ECB5F9C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8789" y="1864360"/>
            <a:ext cx="5325457" cy="463804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visualization compares disease areas based on funding efficiency, calculated as funding allocated per mortality count.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values indicate diseases receiving relatively greater funding compared to mortality impact, while lower values may highlight potentially underfunded areas.</a:t>
            </a: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Temporomandibular Muscle/Joint Disorders and Malaria show the highest funding efficiency values.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Several diseases with lower funding efficiency may require further investigation for potential underfunding.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analysis highlights imbalance in healthcare resource allocation across disease areas.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370FCF-3E55-80C0-CFD0-A521829E82AF}"/>
              </a:ext>
            </a:extLst>
          </p:cNvPr>
          <p:cNvSpPr/>
          <p:nvPr/>
        </p:nvSpPr>
        <p:spPr>
          <a:xfrm>
            <a:off x="6959599" y="5171440"/>
            <a:ext cx="3923507" cy="933028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→ High Funding per Death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Orange → Low Funding per Death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B718B4-808C-EE89-949C-321B2616C2E2}"/>
              </a:ext>
            </a:extLst>
          </p:cNvPr>
          <p:cNvSpPr/>
          <p:nvPr/>
        </p:nvSpPr>
        <p:spPr>
          <a:xfrm>
            <a:off x="121920" y="1046480"/>
            <a:ext cx="5659120" cy="54864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Comparing funding allocation efficiency across major disease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59481-35D6-FA1F-FE18-3A94D2D9828C}"/>
              </a:ext>
            </a:extLst>
          </p:cNvPr>
          <p:cNvSpPr txBox="1"/>
          <p:nvPr/>
        </p:nvSpPr>
        <p:spPr>
          <a:xfrm>
            <a:off x="4091940" y="238760"/>
            <a:ext cx="868680" cy="71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6CBAF-8A05-5E34-CA95-3BABE662D90C}"/>
              </a:ext>
            </a:extLst>
          </p:cNvPr>
          <p:cNvSpPr txBox="1"/>
          <p:nvPr/>
        </p:nvSpPr>
        <p:spPr>
          <a:xfrm>
            <a:off x="1559560" y="3559294"/>
            <a:ext cx="716280" cy="71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⚖</a:t>
            </a:r>
          </a:p>
        </p:txBody>
      </p:sp>
    </p:spTree>
    <p:extLst>
      <p:ext uri="{BB962C8B-B14F-4D97-AF65-F5344CB8AC3E}">
        <p14:creationId xmlns:p14="http://schemas.microsoft.com/office/powerpoint/2010/main" val="224876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7C52-E5C5-D3CC-F34E-E2CD7D33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868" y="96520"/>
            <a:ext cx="6350000" cy="5130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Underfunded High-Risk Diseases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153808-76AF-6E94-25AF-7604AE595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74" y="711200"/>
            <a:ext cx="5493359" cy="27178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CB1D7-6533-5CE2-B300-AF259B917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6066" y="812800"/>
            <a:ext cx="5493360" cy="5669280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scatter plot compares healthcare funding against mortality levels across major disease areas.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reference lines divide the visualization into quadrants, helping identify diseases with: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High mortality but lower funding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High funding relative to mortality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Balanced funding allocation</a:t>
            </a: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Cardiovascular diseases show extremely high mortality levels.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Cancer receives the highest funding allocation among major disease areas.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diseases demonstrate high mortality despite comparatively moderate funding levels, highlighting possible funding gaps.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6464FC-79A0-A0B1-E83E-5A23301DC234}"/>
              </a:ext>
            </a:extLst>
          </p:cNvPr>
          <p:cNvSpPr/>
          <p:nvPr/>
        </p:nvSpPr>
        <p:spPr>
          <a:xfrm>
            <a:off x="162560" y="3657600"/>
            <a:ext cx="5823425" cy="310388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Left → High Mortality + Lower Funding</a:t>
            </a:r>
            <a:br>
              <a:rPr lang="en-US" dirty="0"/>
            </a:br>
            <a:r>
              <a:rPr lang="en-US" dirty="0"/>
              <a:t>Potentially underfunded high-risk diseases</a:t>
            </a:r>
          </a:p>
          <a:p>
            <a:pPr algn="ctr"/>
            <a:br>
              <a:rPr lang="en-US" dirty="0"/>
            </a:br>
            <a:r>
              <a:rPr lang="en-US" dirty="0"/>
              <a:t>Top Right → High Mortality + High Funding</a:t>
            </a:r>
            <a:br>
              <a:rPr lang="en-US" dirty="0"/>
            </a:br>
            <a:r>
              <a:rPr lang="en-US" dirty="0"/>
              <a:t>Major focus disease areas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Bottom Right → Lower Mortality + High Funding</a:t>
            </a:r>
            <a:br>
              <a:rPr lang="en-US" dirty="0"/>
            </a:br>
            <a:r>
              <a:rPr lang="en-US" dirty="0"/>
              <a:t>Potentially overfunded areas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Bottom Left → Lower Mortality + Lower Funding</a:t>
            </a:r>
            <a:br>
              <a:rPr lang="en-US" dirty="0"/>
            </a:br>
            <a:r>
              <a:rPr lang="en-US" dirty="0"/>
              <a:t>Lower priority disease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47627-8BB8-008B-950B-2BA4159FB6AB}"/>
              </a:ext>
            </a:extLst>
          </p:cNvPr>
          <p:cNvSpPr txBox="1"/>
          <p:nvPr/>
        </p:nvSpPr>
        <p:spPr>
          <a:xfrm>
            <a:off x="7911148" y="3263007"/>
            <a:ext cx="807720" cy="78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📉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D83492-21F3-1710-23DA-DE78C09EF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419" y="96520"/>
            <a:ext cx="737661" cy="73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55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2AF-F25A-0DA4-8903-2DF36BD7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641" y="840740"/>
            <a:ext cx="6604000" cy="41148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Overview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ACF88A-D3E9-AC3D-0F4C-4F087ABCD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31" y="1569719"/>
            <a:ext cx="6073204" cy="4572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8BD57-E66E-A9E7-5ED6-032130E01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54800" y="1727200"/>
            <a:ext cx="5284789" cy="408432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provides an executive-level overview of healthcare funding allocation, mortality trends, and disease impact analysis across major healthcare research areas.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Features: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Interactive filters for disease analysis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Funding trend visualization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Mortality comparison metrics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KPI-driven healthcare insights</a:t>
            </a:r>
            <a:b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Executive-level healthcare analytics dashboard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D60337-0B5E-D914-DC5D-976126548C78}"/>
              </a:ext>
            </a:extLst>
          </p:cNvPr>
          <p:cNvSpPr/>
          <p:nvPr/>
        </p:nvSpPr>
        <p:spPr>
          <a:xfrm>
            <a:off x="2763518" y="177801"/>
            <a:ext cx="6248401" cy="53848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Tableau Dashboard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DB637-6A57-C6DA-D807-2662B0E20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917" y="177801"/>
            <a:ext cx="1279843" cy="1279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5FD8B6-B897-A7A0-7FA5-A45A6C5E7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946" y="3855719"/>
            <a:ext cx="1259523" cy="105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2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02A1-DFF8-E54A-3638-03DFE8CF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96448"/>
            <a:ext cx="6461760" cy="3950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&amp; Risk Analysis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AB69DC-9F13-EED5-5D72-4C7D7D55F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76" y="1198882"/>
            <a:ext cx="7014191" cy="400311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87F1F-46D5-CF7A-53CD-82BE0A286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08240" y="1212796"/>
            <a:ext cx="4561840" cy="400311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focuses on evaluating healthcare funding efficiency by comparing funding allocation against mortality impact across disease areas.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combines KPI analysis, funding efficiency metrics, and mortality comparisons to identify potential funding imbalances.</a:t>
            </a: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Components: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Funding Efficiency KPI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Funding per Death analysis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Disease-wise funding efficiency comparison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Funding vs mortality scatter plot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Identification of underfunded high-risk diseases</a:t>
            </a: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91404-825C-FFBF-2645-53F911ED6088}"/>
              </a:ext>
            </a:extLst>
          </p:cNvPr>
          <p:cNvSpPr/>
          <p:nvPr/>
        </p:nvSpPr>
        <p:spPr>
          <a:xfrm>
            <a:off x="319076" y="5357070"/>
            <a:ext cx="11517324" cy="1367156"/>
          </a:xfrm>
          <a:prstGeom prst="round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Finding:</a:t>
            </a:r>
            <a:b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diseases exhibit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disproportionately high mortality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to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allocation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potential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inefficiencies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healthcare resource distribution.</a:t>
            </a:r>
          </a:p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FD9B17-6875-2A65-2988-4138ACD4E4B4}"/>
              </a:ext>
            </a:extLst>
          </p:cNvPr>
          <p:cNvSpPr/>
          <p:nvPr/>
        </p:nvSpPr>
        <p:spPr>
          <a:xfrm>
            <a:off x="1910080" y="632694"/>
            <a:ext cx="8473440" cy="312186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Evaluating funding allocation effectiveness across major disease areas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0CEAEA-CE83-C90F-E5C1-FB9DE3A00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483" y="121776"/>
            <a:ext cx="1045917" cy="1045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096E24-573B-54C1-13A8-7651ADF3F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197" y="3429000"/>
            <a:ext cx="924243" cy="9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69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3CE5-E063-442F-F4B6-DF2C4BFA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103292"/>
            <a:ext cx="9005146" cy="528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&amp; Business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6802-5316-5CD3-80F6-9BC76CCF5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147" y="731520"/>
            <a:ext cx="4649787" cy="528320"/>
          </a:xfrm>
        </p:spPr>
        <p:txBody>
          <a:bodyPr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3F35F-17C7-4249-AF0A-B41BDA206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467" y="1471770"/>
            <a:ext cx="5706533" cy="397907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Cardiovascular diseases showed extremely high mortality levels compared to several other disease areas.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Cancer research received the highest overall funding allocation among major healthcare research areas.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diseases demonstrated disproportionately high mortality despite comparatively moderate funding levels.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varied significantly across disease areas, indicating uneven resource distribution.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identified potential underfunded high-risk disease categories requiring deeper investigation.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71012-0C66-B9AC-62AE-0363379A5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0999" y="680720"/>
            <a:ext cx="4665134" cy="782320"/>
          </a:xfrm>
        </p:spPr>
        <p:txBody>
          <a:bodyPr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 &amp; 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E425B6-5F55-F66B-E7DD-20BCD39E6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2880" y="1608930"/>
            <a:ext cx="5364480" cy="370475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strategies should incorporate mortality impact metrics for more balanced resource allocation.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dashboards improve visibility into funding efficiency and healthcare priorities.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imbalance detection can support better long-term healthcare policy planning.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monitoring of funding versus mortality trends enables proactive decision-making.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41931-AFD6-DC6D-5EE1-3170739F9B0E}"/>
              </a:ext>
            </a:extLst>
          </p:cNvPr>
          <p:cNvSpPr/>
          <p:nvPr/>
        </p:nvSpPr>
        <p:spPr>
          <a:xfrm>
            <a:off x="623147" y="5459570"/>
            <a:ext cx="11040533" cy="127508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Observation:</a:t>
            </a:r>
          </a:p>
          <a:p>
            <a:pPr algn="ctr"/>
            <a:endParaRPr lang="en-US" sz="16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demonstrates that healthcare funding allocation is not always directly proportional to disease mortality impact, highlighting opportunities for more optimized resource distribution.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829567-FF0A-FF73-5E6E-D5F42DA46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837" y="703738"/>
            <a:ext cx="736283" cy="7362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56ECF8-6A3B-9525-CE62-9F30FDD26309}"/>
              </a:ext>
            </a:extLst>
          </p:cNvPr>
          <p:cNvSpPr txBox="1"/>
          <p:nvPr/>
        </p:nvSpPr>
        <p:spPr>
          <a:xfrm>
            <a:off x="10407226" y="631612"/>
            <a:ext cx="614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📌</a:t>
            </a:r>
          </a:p>
        </p:txBody>
      </p:sp>
    </p:spTree>
    <p:extLst>
      <p:ext uri="{BB962C8B-B14F-4D97-AF65-F5344CB8AC3E}">
        <p14:creationId xmlns:p14="http://schemas.microsoft.com/office/powerpoint/2010/main" val="335964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C6CB-E6B1-625D-FD8C-63C71A5C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1720" y="114616"/>
            <a:ext cx="7284720" cy="5661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Challenges &amp; Data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DB381-924F-EE59-24BA-884038B56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069" y="1189587"/>
            <a:ext cx="4649787" cy="480381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80773-1FB0-DF8D-6A23-BEA8CD892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959" y="1800184"/>
            <a:ext cx="5781041" cy="327072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contained multiple year-wise funding columns requiring restructuring and preparation before analysis.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values and mortality metrics required formatting adjustments for readable visualization and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creation.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meaningful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metrics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experimentation with calculated fields and normalization logic.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Balancing visual clarity,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interactivity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business storytelling was a key design challenge.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Interpreting funding imbalance patterns required careful comparison between funding allocation and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mortality impact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BEE37-6471-50AB-5D75-32C1DC5BB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21832" y="1230711"/>
            <a:ext cx="4665134" cy="480381"/>
          </a:xfrm>
        </p:spPr>
        <p:txBody>
          <a:bodyPr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 &amp; 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E6671-250D-C8BB-8D54-142996C2F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2520" y="1812208"/>
            <a:ext cx="5852160" cy="2984104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restructuring techniques to organize year-wise funding data effectively.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calculated fields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formatting options to create standardized funding efficiency metrics.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simplified layouts for better executive-level readability.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comparative visualizations such as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plots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indicators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insight generation.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A20EA0-EF1C-87F9-6E94-0CE68528E69D}"/>
              </a:ext>
            </a:extLst>
          </p:cNvPr>
          <p:cNvSpPr/>
          <p:nvPr/>
        </p:nvSpPr>
        <p:spPr>
          <a:xfrm>
            <a:off x="355600" y="5201127"/>
            <a:ext cx="11673840" cy="126620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Learning:</a:t>
            </a:r>
            <a:b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strengthened practical skills in data cleaning, KPI development, dashboard storytelling, and analytical decision-making using Tableau.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2E96B0-606D-5D5E-CC95-D03B4BD8E49C}"/>
              </a:ext>
            </a:extLst>
          </p:cNvPr>
          <p:cNvSpPr/>
          <p:nvPr/>
        </p:nvSpPr>
        <p:spPr>
          <a:xfrm>
            <a:off x="1264920" y="686504"/>
            <a:ext cx="9418320" cy="40481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challenges encountered during healthcare analytics 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19714D-47C3-D8E3-9E41-1D8AF6CE123C}"/>
              </a:ext>
            </a:extLst>
          </p:cNvPr>
          <p:cNvSpPr txBox="1"/>
          <p:nvPr/>
        </p:nvSpPr>
        <p:spPr>
          <a:xfrm>
            <a:off x="3743960" y="1066446"/>
            <a:ext cx="624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8AEB68-D29D-6032-A075-9A53D943E3DA}"/>
              </a:ext>
            </a:extLst>
          </p:cNvPr>
          <p:cNvSpPr txBox="1"/>
          <p:nvPr/>
        </p:nvSpPr>
        <p:spPr>
          <a:xfrm>
            <a:off x="10692606" y="1116958"/>
            <a:ext cx="690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00FBA-8189-0D6D-CB33-D48C88B4E6CA}"/>
              </a:ext>
            </a:extLst>
          </p:cNvPr>
          <p:cNvSpPr txBox="1"/>
          <p:nvPr/>
        </p:nvSpPr>
        <p:spPr>
          <a:xfrm>
            <a:off x="6924040" y="5070911"/>
            <a:ext cx="83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🎓</a:t>
            </a:r>
          </a:p>
        </p:txBody>
      </p:sp>
    </p:spTree>
    <p:extLst>
      <p:ext uri="{BB962C8B-B14F-4D97-AF65-F5344CB8AC3E}">
        <p14:creationId xmlns:p14="http://schemas.microsoft.com/office/powerpoint/2010/main" val="4246968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F2D2-8112-1EE1-6454-E37104AE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52" y="121921"/>
            <a:ext cx="8534400" cy="51815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59B00-B676-F279-3E52-5437F5AE11AD}"/>
              </a:ext>
            </a:extLst>
          </p:cNvPr>
          <p:cNvSpPr/>
          <p:nvPr/>
        </p:nvSpPr>
        <p:spPr>
          <a:xfrm>
            <a:off x="518160" y="822960"/>
            <a:ext cx="3210560" cy="14224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Tableau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dashboards, calculated fields, KPIs, and visual analytics.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387FD-7DD4-5828-859E-036A7F6040CF}"/>
              </a:ext>
            </a:extLst>
          </p:cNvPr>
          <p:cNvSpPr/>
          <p:nvPr/>
        </p:nvSpPr>
        <p:spPr>
          <a:xfrm>
            <a:off x="7660640" y="812800"/>
            <a:ext cx="3312160" cy="1524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📂 Microsoft Excel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preparation, data review, and initial data structuring.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907FD-23A5-A748-C97D-4C0618D30C20}"/>
              </a:ext>
            </a:extLst>
          </p:cNvPr>
          <p:cNvSpPr/>
          <p:nvPr/>
        </p:nvSpPr>
        <p:spPr>
          <a:xfrm>
            <a:off x="518160" y="2585720"/>
            <a:ext cx="3210560" cy="14224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Data Visualization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 charts, scatter plots, bar charts, KPI cards, and pie charts.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98D0B-604D-75B2-0CF2-745EF8028E5F}"/>
              </a:ext>
            </a:extLst>
          </p:cNvPr>
          <p:cNvSpPr/>
          <p:nvPr/>
        </p:nvSpPr>
        <p:spPr>
          <a:xfrm>
            <a:off x="7660640" y="2600961"/>
            <a:ext cx="3312160" cy="14122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KPI Development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funding efficiency metrics using calculated fields.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DFE5C-86A5-C815-85E9-E4F45B946BDE}"/>
              </a:ext>
            </a:extLst>
          </p:cNvPr>
          <p:cNvSpPr/>
          <p:nvPr/>
        </p:nvSpPr>
        <p:spPr>
          <a:xfrm>
            <a:off x="4062412" y="4013200"/>
            <a:ext cx="3312160" cy="15290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🎨 Dashboard Design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Executive-style storytelling with interactive healthcare dashboards.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8AC786-5A5F-2C42-FEA9-5D69F6F95A8A}"/>
              </a:ext>
            </a:extLst>
          </p:cNvPr>
          <p:cNvSpPr/>
          <p:nvPr/>
        </p:nvSpPr>
        <p:spPr>
          <a:xfrm>
            <a:off x="1527492" y="5842000"/>
            <a:ext cx="8382000" cy="599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and analytical techniques used throughout the project</a:t>
            </a:r>
          </a:p>
        </p:txBody>
      </p:sp>
    </p:spTree>
    <p:extLst>
      <p:ext uri="{BB962C8B-B14F-4D97-AF65-F5344CB8AC3E}">
        <p14:creationId xmlns:p14="http://schemas.microsoft.com/office/powerpoint/2010/main" val="208119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852F-378E-3951-0472-2BBC8ECA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332" y="108372"/>
            <a:ext cx="8534400" cy="9584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 &amp; Strategic 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F7950-0EA1-557C-F54B-EE1523EBBB65}"/>
              </a:ext>
            </a:extLst>
          </p:cNvPr>
          <p:cNvSpPr/>
          <p:nvPr/>
        </p:nvSpPr>
        <p:spPr>
          <a:xfrm>
            <a:off x="568960" y="965200"/>
            <a:ext cx="3657600" cy="20015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Funding Allocation</a:t>
            </a:r>
          </a:p>
          <a:p>
            <a:pPr algn="ctr"/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decisions should incorporate mortality and disease impact metrics for balanced resource allocation.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AC2FC-7F14-B7F7-C2D6-C7888AB197AB}"/>
              </a:ext>
            </a:extLst>
          </p:cNvPr>
          <p:cNvSpPr/>
          <p:nvPr/>
        </p:nvSpPr>
        <p:spPr>
          <a:xfrm>
            <a:off x="7965440" y="909321"/>
            <a:ext cx="3657600" cy="205739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Performance Monitoring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monitoring of funding efficiency KPIs can help identify emerging underfunded high-risk disease areas.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1413A-0842-4422-1B72-DC13DB389395}"/>
              </a:ext>
            </a:extLst>
          </p:cNvPr>
          <p:cNvSpPr/>
          <p:nvPr/>
        </p:nvSpPr>
        <p:spPr>
          <a:xfrm>
            <a:off x="568960" y="3256280"/>
            <a:ext cx="3657600" cy="21996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Dashboard Adoption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healthcare dashboards can improve strategic decision-making and transparency in funding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92454-823A-031E-0407-A09AE3C27284}"/>
              </a:ext>
            </a:extLst>
          </p:cNvPr>
          <p:cNvSpPr/>
          <p:nvPr/>
        </p:nvSpPr>
        <p:spPr>
          <a:xfrm>
            <a:off x="7965440" y="3256280"/>
            <a:ext cx="3657600" cy="219963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Predictive Analytics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healthcare analytics initiatives can incorporate predictive modeling to forecast mortality and funding requirements.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F05474-307B-AAD8-E70E-C5C1E583D469}"/>
              </a:ext>
            </a:extLst>
          </p:cNvPr>
          <p:cNvSpPr/>
          <p:nvPr/>
        </p:nvSpPr>
        <p:spPr>
          <a:xfrm>
            <a:off x="1711960" y="5565984"/>
            <a:ext cx="8768080" cy="11125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Conclusion: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healthcare funding strategies can improve funding efficiency, reduce allocation imbalances, and support better healthcare outcomes.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E2FBB-E6B1-D127-2661-74153A1F1293}"/>
              </a:ext>
            </a:extLst>
          </p:cNvPr>
          <p:cNvSpPr txBox="1"/>
          <p:nvPr/>
        </p:nvSpPr>
        <p:spPr>
          <a:xfrm>
            <a:off x="3518694" y="1252196"/>
            <a:ext cx="707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🎯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BAC8A-2D08-CA80-B747-39C16951378E}"/>
              </a:ext>
            </a:extLst>
          </p:cNvPr>
          <p:cNvSpPr txBox="1"/>
          <p:nvPr/>
        </p:nvSpPr>
        <p:spPr>
          <a:xfrm>
            <a:off x="10701972" y="1130276"/>
            <a:ext cx="848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📊 </a:t>
            </a:r>
            <a:endParaRPr lang="en-US" sz="4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2A9F84-7A98-982A-93AB-89F98A9F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52" y="4923724"/>
            <a:ext cx="482283" cy="4822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9242AD-2823-9844-222E-673841CA1012}"/>
              </a:ext>
            </a:extLst>
          </p:cNvPr>
          <p:cNvSpPr txBox="1"/>
          <p:nvPr/>
        </p:nvSpPr>
        <p:spPr>
          <a:xfrm>
            <a:off x="10559732" y="4834988"/>
            <a:ext cx="80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🤖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0F3BA7-B0D6-D522-38D2-1FCD45216405}"/>
              </a:ext>
            </a:extLst>
          </p:cNvPr>
          <p:cNvSpPr txBox="1"/>
          <p:nvPr/>
        </p:nvSpPr>
        <p:spPr>
          <a:xfrm>
            <a:off x="7005320" y="5522228"/>
            <a:ext cx="706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713979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80CD-6243-732D-E16D-AF871683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372" y="0"/>
            <a:ext cx="8534400" cy="6096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 &amp; Enhancements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9625E-46EA-80AB-129E-C6DED8233F64}"/>
              </a:ext>
            </a:extLst>
          </p:cNvPr>
          <p:cNvSpPr/>
          <p:nvPr/>
        </p:nvSpPr>
        <p:spPr>
          <a:xfrm>
            <a:off x="406400" y="772160"/>
            <a:ext cx="4409440" cy="13919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Healthcare Data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dashboards can integrate live healthcare funding and mortality datasets for real-time monitoring.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1ED67-69B0-34B3-6AD5-41CA51AB6230}"/>
              </a:ext>
            </a:extLst>
          </p:cNvPr>
          <p:cNvSpPr/>
          <p:nvPr/>
        </p:nvSpPr>
        <p:spPr>
          <a:xfrm>
            <a:off x="7051040" y="772160"/>
            <a:ext cx="4663440" cy="13919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Healthcare Modeling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models can forecast disease trends, mortality rates, and future funding requirements.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751BB0-50A9-00C0-E085-7AC5A28B3310}"/>
              </a:ext>
            </a:extLst>
          </p:cNvPr>
          <p:cNvSpPr/>
          <p:nvPr/>
        </p:nvSpPr>
        <p:spPr>
          <a:xfrm>
            <a:off x="406400" y="2326640"/>
            <a:ext cx="4409440" cy="13919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Healthcare Insights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healthcare funding analysis can identify geographic disparities in healthcare resource allocation.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F9FA9-9528-BFB5-ABAE-5D659C2515A9}"/>
              </a:ext>
            </a:extLst>
          </p:cNvPr>
          <p:cNvSpPr/>
          <p:nvPr/>
        </p:nvSpPr>
        <p:spPr>
          <a:xfrm>
            <a:off x="7051040" y="2326640"/>
            <a:ext cx="4663440" cy="13919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KPI Monitoring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KPIs such as survival rates, treatment efficiency, and patient outcomes can enhance analysis depth.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B7EE3-9F45-3810-04C7-7B511F3F57B1}"/>
              </a:ext>
            </a:extLst>
          </p:cNvPr>
          <p:cNvSpPr/>
          <p:nvPr/>
        </p:nvSpPr>
        <p:spPr>
          <a:xfrm>
            <a:off x="3772852" y="3881120"/>
            <a:ext cx="4409440" cy="13919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Healthcare Decision Support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analytics can support policymakers in optimizing healthcare funding strategies dynamically.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290CF5-F88D-9797-D617-6D030ED5D6AF}"/>
              </a:ext>
            </a:extLst>
          </p:cNvPr>
          <p:cNvSpPr/>
          <p:nvPr/>
        </p:nvSpPr>
        <p:spPr>
          <a:xfrm>
            <a:off x="995680" y="5471160"/>
            <a:ext cx="10200640" cy="12293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Vision: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analytics platforms can evolve into intelligent decision-support systems enabling proactive and data-driven healthcare planning.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9AD20-FD13-A54D-EB5D-2CD22873A0AC}"/>
              </a:ext>
            </a:extLst>
          </p:cNvPr>
          <p:cNvSpPr txBox="1"/>
          <p:nvPr/>
        </p:nvSpPr>
        <p:spPr>
          <a:xfrm>
            <a:off x="3791108" y="762402"/>
            <a:ext cx="949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B8BFB-AA1A-7AC9-1E17-0909605DCBD5}"/>
              </a:ext>
            </a:extLst>
          </p:cNvPr>
          <p:cNvSpPr txBox="1"/>
          <p:nvPr/>
        </p:nvSpPr>
        <p:spPr>
          <a:xfrm>
            <a:off x="10836434" y="772160"/>
            <a:ext cx="719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🤖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F0360-B42C-38C3-0C4B-0123B579F475}"/>
              </a:ext>
            </a:extLst>
          </p:cNvPr>
          <p:cNvSpPr txBox="1"/>
          <p:nvPr/>
        </p:nvSpPr>
        <p:spPr>
          <a:xfrm>
            <a:off x="4038600" y="2276138"/>
            <a:ext cx="615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🗺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66E19-D056-39DD-DD66-FBCCA6EBD901}"/>
              </a:ext>
            </a:extLst>
          </p:cNvPr>
          <p:cNvSpPr txBox="1"/>
          <p:nvPr/>
        </p:nvSpPr>
        <p:spPr>
          <a:xfrm>
            <a:off x="10595134" y="2326640"/>
            <a:ext cx="482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📊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803AA-05BD-20EC-12A6-5771445558D7}"/>
              </a:ext>
            </a:extLst>
          </p:cNvPr>
          <p:cNvSpPr txBox="1"/>
          <p:nvPr/>
        </p:nvSpPr>
        <p:spPr>
          <a:xfrm>
            <a:off x="7421880" y="4123006"/>
            <a:ext cx="563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3A700-CBE7-86AD-2FE0-A4A539FFF799}"/>
              </a:ext>
            </a:extLst>
          </p:cNvPr>
          <p:cNvSpPr txBox="1"/>
          <p:nvPr/>
        </p:nvSpPr>
        <p:spPr>
          <a:xfrm>
            <a:off x="6609080" y="5439509"/>
            <a:ext cx="71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163223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0CBD-428F-ACA0-D9BD-178B11D7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0"/>
            <a:ext cx="8534400" cy="5994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Outcome &amp; Business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F7AFB0-7094-1846-2EA6-88B29F938607}"/>
              </a:ext>
            </a:extLst>
          </p:cNvPr>
          <p:cNvSpPr/>
          <p:nvPr/>
        </p:nvSpPr>
        <p:spPr>
          <a:xfrm>
            <a:off x="579120" y="1503681"/>
            <a:ext cx="4175760" cy="16357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Healthcare Insights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successfully identified funding allocation trends and mortality-based healthcare impact patterns.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68631-AB55-EC0A-CD55-D6FA435125FA}"/>
              </a:ext>
            </a:extLst>
          </p:cNvPr>
          <p:cNvSpPr/>
          <p:nvPr/>
        </p:nvSpPr>
        <p:spPr>
          <a:xfrm>
            <a:off x="7437120" y="1503681"/>
            <a:ext cx="4175760" cy="16357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KPI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funding efficiency metrics enabled better comparison between healthcare funding and disease mortality.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9D862B-3A9F-9A86-6C40-EF1F66DCD179}"/>
              </a:ext>
            </a:extLst>
          </p:cNvPr>
          <p:cNvSpPr/>
          <p:nvPr/>
        </p:nvSpPr>
        <p:spPr>
          <a:xfrm>
            <a:off x="579120" y="3312161"/>
            <a:ext cx="4175760" cy="17272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 Reporting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Executive-style dashboards transformed complex healthcare datasets into understandable visual insights.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28173-051F-9A19-F4AB-700B7B6B6AB5}"/>
              </a:ext>
            </a:extLst>
          </p:cNvPr>
          <p:cNvSpPr/>
          <p:nvPr/>
        </p:nvSpPr>
        <p:spPr>
          <a:xfrm>
            <a:off x="7437120" y="3312161"/>
            <a:ext cx="4175760" cy="172719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Decision Support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supports more informed healthcare funding decisions through data-driven visualization.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A0F554-7A23-7456-4888-66960C4B3557}"/>
              </a:ext>
            </a:extLst>
          </p:cNvPr>
          <p:cNvSpPr/>
          <p:nvPr/>
        </p:nvSpPr>
        <p:spPr>
          <a:xfrm>
            <a:off x="1949132" y="5212080"/>
            <a:ext cx="8138160" cy="14732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Impact: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healthcare funding efficiency analysis demonstrated how data visualization and KPI-driven analytics can support better healthcare planning and resource optimization.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155AAB-38ED-6706-2079-FF20DDD3A994}"/>
              </a:ext>
            </a:extLst>
          </p:cNvPr>
          <p:cNvSpPr/>
          <p:nvPr/>
        </p:nvSpPr>
        <p:spPr>
          <a:xfrm>
            <a:off x="1949132" y="695961"/>
            <a:ext cx="8414068" cy="5994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outcomes achieved through healthcare funding analytics and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2E6FD-A774-953C-2CDC-624B8875F07B}"/>
              </a:ext>
            </a:extLst>
          </p:cNvPr>
          <p:cNvSpPr txBox="1"/>
          <p:nvPr/>
        </p:nvSpPr>
        <p:spPr>
          <a:xfrm>
            <a:off x="3886200" y="1503681"/>
            <a:ext cx="675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E1A68-D1A7-73D1-47C9-179F6EEB2578}"/>
              </a:ext>
            </a:extLst>
          </p:cNvPr>
          <p:cNvSpPr txBox="1"/>
          <p:nvPr/>
        </p:nvSpPr>
        <p:spPr>
          <a:xfrm>
            <a:off x="10530840" y="1503681"/>
            <a:ext cx="594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8919A-9283-71B2-9737-8142A399FC51}"/>
              </a:ext>
            </a:extLst>
          </p:cNvPr>
          <p:cNvSpPr txBox="1"/>
          <p:nvPr/>
        </p:nvSpPr>
        <p:spPr>
          <a:xfrm>
            <a:off x="4104640" y="3368040"/>
            <a:ext cx="56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157AA-2F90-DD1A-47EC-98BCC509353D}"/>
              </a:ext>
            </a:extLst>
          </p:cNvPr>
          <p:cNvSpPr txBox="1"/>
          <p:nvPr/>
        </p:nvSpPr>
        <p:spPr>
          <a:xfrm>
            <a:off x="10734040" y="3279299"/>
            <a:ext cx="492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🎯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018EF4-C8EF-9A6E-0F9B-1462625CCD59}"/>
              </a:ext>
            </a:extLst>
          </p:cNvPr>
          <p:cNvSpPr txBox="1"/>
          <p:nvPr/>
        </p:nvSpPr>
        <p:spPr>
          <a:xfrm>
            <a:off x="6690360" y="5189378"/>
            <a:ext cx="665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🚀 </a:t>
            </a:r>
          </a:p>
        </p:txBody>
      </p:sp>
    </p:spTree>
    <p:extLst>
      <p:ext uri="{BB962C8B-B14F-4D97-AF65-F5344CB8AC3E}">
        <p14:creationId xmlns:p14="http://schemas.microsoft.com/office/powerpoint/2010/main" val="174455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080C-9031-BBEE-45AA-6EA4EE1C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78" y="223520"/>
            <a:ext cx="8534401" cy="10261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Conclusions from Healthcare Funding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07857-80DC-7AD0-2CFD-A1B51BF8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1226" y="2377440"/>
            <a:ext cx="10349547" cy="2550160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funding distribution varies significantly across disease areas.</a:t>
            </a:r>
            <a:r>
              <a:rPr lang="en-US" dirty="0"/>
              <a:t> ⚖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efficiency analysis revealed potential imbalances between healthcare investment and mortality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impact.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 improved understanding of funding trends, mortality patterns, and healthcare priorities.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healthcare analytics can support more strategic and optimized funding decisions.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FC4573-4B75-930D-D419-8D7B710872C9}"/>
              </a:ext>
            </a:extLst>
          </p:cNvPr>
          <p:cNvSpPr/>
          <p:nvPr/>
        </p:nvSpPr>
        <p:spPr>
          <a:xfrm>
            <a:off x="751840" y="5364480"/>
            <a:ext cx="10840720" cy="1270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Takeaway: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how Tableau dashboards and KPI-driven analytics can transform healthcare data into actionable business insights for smarter healthcare planning.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AF07F5-1109-5361-A0D5-900276A2E1C6}"/>
              </a:ext>
            </a:extLst>
          </p:cNvPr>
          <p:cNvSpPr/>
          <p:nvPr/>
        </p:nvSpPr>
        <p:spPr>
          <a:xfrm>
            <a:off x="2001519" y="1442720"/>
            <a:ext cx="8188960" cy="74168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conclusions derived from healthcare funding and mortality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AFCD7-F0E0-C555-7DFF-79A78CDD4225}"/>
              </a:ext>
            </a:extLst>
          </p:cNvPr>
          <p:cNvSpPr txBox="1"/>
          <p:nvPr/>
        </p:nvSpPr>
        <p:spPr>
          <a:xfrm>
            <a:off x="7472680" y="2429887"/>
            <a:ext cx="492760" cy="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2D634-0979-67C1-10A5-9AB136ECFDA2}"/>
              </a:ext>
            </a:extLst>
          </p:cNvPr>
          <p:cNvSpPr txBox="1"/>
          <p:nvPr/>
        </p:nvSpPr>
        <p:spPr>
          <a:xfrm>
            <a:off x="1706878" y="3489960"/>
            <a:ext cx="401320" cy="372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⚖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0B96D-A82E-2606-5932-A677453FA1DA}"/>
              </a:ext>
            </a:extLst>
          </p:cNvPr>
          <p:cNvSpPr txBox="1"/>
          <p:nvPr/>
        </p:nvSpPr>
        <p:spPr>
          <a:xfrm>
            <a:off x="10957560" y="4026653"/>
            <a:ext cx="401320" cy="37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E0A605-0106-6D3D-C69D-17BF8176A2BF}"/>
              </a:ext>
            </a:extLst>
          </p:cNvPr>
          <p:cNvSpPr txBox="1"/>
          <p:nvPr/>
        </p:nvSpPr>
        <p:spPr>
          <a:xfrm>
            <a:off x="9382760" y="4509254"/>
            <a:ext cx="472440" cy="37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🎯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28878-2708-B8FD-7800-F6474E66380E}"/>
              </a:ext>
            </a:extLst>
          </p:cNvPr>
          <p:cNvSpPr txBox="1"/>
          <p:nvPr/>
        </p:nvSpPr>
        <p:spPr>
          <a:xfrm>
            <a:off x="6863080" y="5408414"/>
            <a:ext cx="401320" cy="372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1290887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58732-1F56-F389-C47C-0A59A48737AA}"/>
              </a:ext>
            </a:extLst>
          </p:cNvPr>
          <p:cNvSpPr txBox="1"/>
          <p:nvPr/>
        </p:nvSpPr>
        <p:spPr>
          <a:xfrm>
            <a:off x="568960" y="853440"/>
            <a:ext cx="102616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 </a:t>
            </a:r>
          </a:p>
          <a:p>
            <a:pPr algn="ctr"/>
            <a:b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/>
              <a:t>Healthcare Funding Efficiency Analysis</a:t>
            </a:r>
          </a:p>
          <a:p>
            <a:pPr algn="ctr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Bhagyalaxmi Nair    </a:t>
            </a:r>
            <a:r>
              <a:rPr lang="en-US" sz="4000" dirty="0"/>
              <a:t>📊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D285E-CA3B-4E90-B168-F86117E40CFA}"/>
              </a:ext>
            </a:extLst>
          </p:cNvPr>
          <p:cNvSpPr txBox="1"/>
          <p:nvPr/>
        </p:nvSpPr>
        <p:spPr>
          <a:xfrm>
            <a:off x="7858760" y="1212334"/>
            <a:ext cx="1061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🙏</a:t>
            </a:r>
          </a:p>
        </p:txBody>
      </p:sp>
    </p:spTree>
    <p:extLst>
      <p:ext uri="{BB962C8B-B14F-4D97-AF65-F5344CB8AC3E}">
        <p14:creationId xmlns:p14="http://schemas.microsoft.com/office/powerpoint/2010/main" val="312597895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3452</TotalTime>
  <Words>1917</Words>
  <Application>Microsoft Office PowerPoint</Application>
  <PresentationFormat>Widescreen</PresentationFormat>
  <Paragraphs>225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Wingdings</vt:lpstr>
      <vt:lpstr>Wingdings 3</vt:lpstr>
      <vt:lpstr>Slice</vt:lpstr>
      <vt:lpstr>Healthcare Funding Efficiency Analysis</vt:lpstr>
      <vt:lpstr>Problem Statement</vt:lpstr>
      <vt:lpstr>Objective</vt:lpstr>
      <vt:lpstr>Dataset Overview</vt:lpstr>
      <vt:lpstr>Key Metrics &amp; Performance Indicator</vt:lpstr>
      <vt:lpstr>Mortality Trends Across Disease Areas</vt:lpstr>
      <vt:lpstr>Funding Distribution Across Disease Areas</vt:lpstr>
      <vt:lpstr>Identifying Underfunded High-Risk Diseases</vt:lpstr>
      <vt:lpstr>Funding Efficiency KPI Analysis</vt:lpstr>
      <vt:lpstr>Top 10 Disease Areas by Funding Efficiency</vt:lpstr>
      <vt:lpstr>Identifying Underfunded High-Risk Diseases</vt:lpstr>
      <vt:lpstr>  Healthcare Funding Overview Dashboard</vt:lpstr>
      <vt:lpstr>Funding Efficiency &amp; Risk Analysis Dashboard</vt:lpstr>
      <vt:lpstr>Key Insights &amp; Business Findings</vt:lpstr>
      <vt:lpstr>Project Challenges &amp; Data Limitations</vt:lpstr>
      <vt:lpstr>Tools &amp; Technologies Used</vt:lpstr>
      <vt:lpstr>Business Recommendations &amp; Strategic Actions</vt:lpstr>
      <vt:lpstr>Future Scope &amp; Enhancements</vt:lpstr>
      <vt:lpstr>Project Outcome &amp; Business Value</vt:lpstr>
      <vt:lpstr>Final Conclusions from Healthcare Funding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Funding Efficiency Analysis</dc:title>
  <dc:creator>pc</dc:creator>
  <cp:lastModifiedBy>pc</cp:lastModifiedBy>
  <cp:revision>82</cp:revision>
  <dcterms:created xsi:type="dcterms:W3CDTF">2026-05-10T07:11:32Z</dcterms:created>
  <dcterms:modified xsi:type="dcterms:W3CDTF">2026-05-12T16:44:10Z</dcterms:modified>
</cp:coreProperties>
</file>